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5" r:id="rId3"/>
    <p:sldId id="277" r:id="rId4"/>
    <p:sldId id="274" r:id="rId5"/>
    <p:sldId id="273" r:id="rId6"/>
    <p:sldId id="271" r:id="rId7"/>
    <p:sldId id="259" r:id="rId8"/>
    <p:sldId id="276" r:id="rId9"/>
    <p:sldId id="27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50" autoAdjust="0"/>
    <p:restoredTop sz="94626"/>
  </p:normalViewPr>
  <p:slideViewPr>
    <p:cSldViewPr snapToGrid="0" snapToObjects="1">
      <p:cViewPr varScale="1">
        <p:scale>
          <a:sx n="127" d="100"/>
          <a:sy n="127" d="100"/>
        </p:scale>
        <p:origin x="19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08CDA-29C6-4C4F-9345-278F31C990CA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38F0A-4DAF-4A34-8201-1D9E579B0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811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800B-A0A9-8CF2-51FD-3B03F4A7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1B98B-44CF-4F07-DC6E-4307FEE6F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9FF9F-E954-EB6D-D745-B3C239FBA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first iteration of this course</a:t>
            </a:r>
          </a:p>
          <a:p>
            <a:r>
              <a:rPr lang="en-GB" dirty="0"/>
              <a:t>Inevitably some things will not quite go to plan</a:t>
            </a:r>
          </a:p>
          <a:p>
            <a:r>
              <a:rPr lang="en-GB" dirty="0"/>
              <a:t>Please let us know suggested improvements along the way!</a:t>
            </a:r>
          </a:p>
          <a:p>
            <a:endParaRPr lang="en-GB" dirty="0"/>
          </a:p>
          <a:p>
            <a:r>
              <a:rPr lang="en-GB" dirty="0"/>
              <a:t>no formal evaluation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7A223-2A53-34A8-F614-DD2797BF8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8F263-929A-49E4-AD2F-77AD84BC4D5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73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Parsimony as an overarching principle!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8F263-929A-49E4-AD2F-77AD84BC4D5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47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141F2-BE5C-F2DA-5080-64368031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BE4BA-4753-0BD0-8040-471D6D83F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2F504-9EFD-D5D3-E53E-B4BE6F42D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Parsimony as an overarching principle!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53888-BFBF-168D-9A15-CE7F26441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8F263-929A-49E4-AD2F-77AD84BC4D5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027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3208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7EC250-E796-438C-AFE1-ABBE2451286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D7EC250-E796-438C-AFE1-ABBE2451286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1709738"/>
            <a:ext cx="91440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" y="4589463"/>
            <a:ext cx="91440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2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86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pa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Open Sans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latin typeface="Open Sans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9132"/>
            <a:ext cx="6697133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64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8" r:id="rId3"/>
    <p:sldLayoutId id="2147483656" r:id="rId4"/>
    <p:sldLayoutId id="2147483650" r:id="rId5"/>
    <p:sldLayoutId id="2147483665" r:id="rId6"/>
  </p:sldLayoutIdLst>
  <p:hf hdr="0" ftr="0" dt="0"/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bg2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icholas.Davies@lshtm.ac.uk" TargetMode="External"/><Relationship Id="rId2" Type="http://schemas.openxmlformats.org/officeDocument/2006/relationships/hyperlink" Target="mailto:Katherine.Atkins@lshtm.ac.u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Francesco.Grisolia@lshtm.ac.uk" TargetMode="External"/><Relationship Id="rId5" Type="http://schemas.openxmlformats.org/officeDocument/2006/relationships/hyperlink" Target="mailto:Kaitlyn.Johnson@lshtm.ac.uk" TargetMode="External"/><Relationship Id="rId4" Type="http://schemas.openxmlformats.org/officeDocument/2006/relationships/hyperlink" Target="mailto:R.Eggo@lshtm.ac.u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36297"/>
            <a:ext cx="9144000" cy="238760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sz="5600" dirty="0"/>
              <a:t>Modern Techniques in Modelling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731D8-BB07-455F-A3EC-FA9C55B09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8229600" cy="4821382"/>
          </a:xfrm>
        </p:spPr>
        <p:txBody>
          <a:bodyPr/>
          <a:lstStyle/>
          <a:p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Course organisers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Katie Atkins 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/>
              </a:rPr>
              <a:t>Katherine.Atkins@lshtm.ac.uk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Nicholas Davies </a:t>
            </a:r>
            <a:r>
              <a:rPr lang="en-GB" sz="2000" b="0" i="0" dirty="0">
                <a:solidFill>
                  <a:srgbClr val="605E5C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Nicholas.Davies@lshtm.ac.uk</a:t>
            </a:r>
            <a:endParaRPr lang="en-GB" sz="2000" b="0" i="0" dirty="0">
              <a:solidFill>
                <a:srgbClr val="605E5C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Roz Eggo</a:t>
            </a:r>
            <a:r>
              <a:rPr lang="en-GB" sz="2000" dirty="0">
                <a:solidFill>
                  <a:srgbClr val="605E5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>
                <a:solidFill>
                  <a:srgbClr val="605E5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R.Eggo@lshtm.ac.uk</a:t>
            </a:r>
            <a:r>
              <a:rPr lang="en-GB" sz="2000" dirty="0">
                <a:solidFill>
                  <a:srgbClr val="605E5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GB" sz="2000" b="0" i="0" dirty="0">
              <a:solidFill>
                <a:srgbClr val="605E5C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Kaitlyn Johnson </a:t>
            </a:r>
            <a:r>
              <a:rPr lang="en-GB" sz="2000" dirty="0">
                <a:solidFill>
                  <a:srgbClr val="605E5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Kaitlyn.Johnson@lshtm.ac.uk</a:t>
            </a:r>
            <a:r>
              <a:rPr lang="en-GB" sz="2000" dirty="0">
                <a:solidFill>
                  <a:srgbClr val="605E5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endParaRPr lang="en-GB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Course administration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Francesco </a:t>
            </a:r>
            <a:r>
              <a:rPr lang="en-GB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Grisolia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/>
              </a:rPr>
              <a:t>Francesco.Grisolia@lshtm.ac.uk</a:t>
            </a:r>
            <a:endParaRPr lang="en-GB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Lecturers and Demonstrators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Kaja Abbas, Sam Abbott, Alexis Robert (All LSHTM / CMMID-based)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5A8A3A-DA59-47AB-BDAD-9213BE8A9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we 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654F8-75E5-4B1B-9FD2-0A08E3C02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965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9EF1-1EC7-119D-4D0F-3E476D0AD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4EA71F-2363-EA5C-1BB1-7008B433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4178E3-0B11-1B5B-2D43-2472F6FA7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2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A9D2B9-4B8F-D674-FE25-9777EC5C6A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</p:spPr>
        <p:txBody>
          <a:bodyPr/>
          <a:lstStyle/>
          <a:p>
            <a:pPr indent="-214370"/>
            <a:r>
              <a:rPr lang="en-GB" dirty="0"/>
              <a:t>A certificate of attendance will be issued automatically by LSHTM’s short courses team (look out for an e-mail next week).</a:t>
            </a:r>
          </a:p>
          <a:p>
            <a:pPr indent="-214370"/>
            <a:endParaRPr lang="en-GB" dirty="0"/>
          </a:p>
          <a:p>
            <a:pPr indent="-214370"/>
            <a:r>
              <a:rPr lang="en-GB" dirty="0"/>
              <a:t>Please complete the feedback form on Moodle after the course — tell us what we did well and what we could improve.</a:t>
            </a:r>
          </a:p>
          <a:p>
            <a:pPr indent="-214370"/>
            <a:endParaRPr lang="en-GB" dirty="0"/>
          </a:p>
          <a:p>
            <a:pPr indent="-214370"/>
            <a:r>
              <a:rPr lang="en-GB" dirty="0"/>
              <a:t>Feel free to contact us if you have any questions on the course material or about your modelling work!</a:t>
            </a:r>
          </a:p>
          <a:p>
            <a:pPr indent="-21437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1474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5D9559-4A06-DB8E-F343-52FFAEE4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Recommended textbooks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EBB39-9622-3B76-0F0D-313D14C04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</a:t>
            </a:fld>
            <a:endParaRPr lang="en-GB"/>
          </a:p>
        </p:txBody>
      </p:sp>
      <p:pic>
        <p:nvPicPr>
          <p:cNvPr id="1026" name="Picture 2" descr="An Introduction to Infectious Disease Modelling by Emilia Vynnycky, Richard  White | Waterstones">
            <a:extLst>
              <a:ext uri="{FF2B5EF4-FFF2-40B4-BE49-F238E27FC236}">
                <a16:creationId xmlns:a16="http://schemas.microsoft.com/office/drawing/2014/main" id="{63A50045-2F94-C7B1-E92F-28BED9B10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90" y="1499870"/>
            <a:ext cx="3122930" cy="469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deling Infectious Diseases in Humans and Animals eBook : Keeling, Matt  J., Rohani, Pejman: Amazon.co.uk: Books">
            <a:extLst>
              <a:ext uri="{FF2B5EF4-FFF2-40B4-BE49-F238E27FC236}">
                <a16:creationId xmlns:a16="http://schemas.microsoft.com/office/drawing/2014/main" id="{1026811E-AB9F-D3C0-7ADD-1CE1F88A3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722" y="1499870"/>
            <a:ext cx="3181805" cy="469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871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1737BB-9057-702D-6B19-ED68E9037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08644"/>
            <a:ext cx="8229600" cy="395987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EB44258-6F04-7EA2-D08D-AEB25E8DC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4149E-AAA4-64B4-720F-DDAE07F6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E0D63F-5928-2E1C-8B7F-7DB13D2E98C5}"/>
              </a:ext>
            </a:extLst>
          </p:cNvPr>
          <p:cNvSpPr txBox="1"/>
          <p:nvPr/>
        </p:nvSpPr>
        <p:spPr>
          <a:xfrm>
            <a:off x="2250831" y="4079631"/>
            <a:ext cx="145701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180448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16147F-818B-F6FE-8D1B-930C96836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models did we see in the course?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A02CC-34CE-BE4A-CBD4-14BA3B62C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9DA31-484B-2CF0-A922-9C4845F237EA}"/>
              </a:ext>
            </a:extLst>
          </p:cNvPr>
          <p:cNvSpPr txBox="1"/>
          <p:nvPr/>
        </p:nvSpPr>
        <p:spPr>
          <a:xfrm>
            <a:off x="233563" y="1321034"/>
            <a:ext cx="2732956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Difference equations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Tracks the number of individuals in each epidemiological  “compartment” (e.g. Infected or Susceptible) at each e.g. day or week timestep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8C5FE-63EA-8CB2-19FC-3DDAFCEFE5F6}"/>
              </a:ext>
            </a:extLst>
          </p:cNvPr>
          <p:cNvSpPr txBox="1"/>
          <p:nvPr/>
        </p:nvSpPr>
        <p:spPr>
          <a:xfrm>
            <a:off x="3126556" y="1326976"/>
            <a:ext cx="2732956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Ordinary Differential Equations (ODEs)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Same as ‘difference equations’ but instead of calculating at each timestep, we move to continuous time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0BC7AB-7079-0543-B3CC-06E83BE23636}"/>
              </a:ext>
            </a:extLst>
          </p:cNvPr>
          <p:cNvSpPr txBox="1"/>
          <p:nvPr/>
        </p:nvSpPr>
        <p:spPr>
          <a:xfrm>
            <a:off x="6017445" y="1321034"/>
            <a:ext cx="2938409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Metapopulation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Add in structure to ODE model by creating multiple subpopulations that can transmit infections within and between each subpopulation 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20EB77-545A-A999-5BD8-1B5F5D760251}"/>
              </a:ext>
            </a:extLst>
          </p:cNvPr>
          <p:cNvSpPr txBox="1"/>
          <p:nvPr/>
        </p:nvSpPr>
        <p:spPr>
          <a:xfrm>
            <a:off x="3126556" y="4054158"/>
            <a:ext cx="2732955" cy="2585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Network model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Adds structure to the individual-based model, where each individual is constrained by who they can transmit to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FB1AB-04FB-96ED-3000-B26166BF88A9}"/>
              </a:ext>
            </a:extLst>
          </p:cNvPr>
          <p:cNvSpPr txBox="1"/>
          <p:nvPr/>
        </p:nvSpPr>
        <p:spPr>
          <a:xfrm>
            <a:off x="6017444" y="4054793"/>
            <a:ext cx="2938409" cy="2585323"/>
          </a:xfrm>
          <a:prstGeom prst="rect">
            <a:avLst/>
          </a:prstGeom>
          <a:solidFill>
            <a:srgbClr val="E4E3FF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Stochastic compartment model</a:t>
            </a:r>
          </a:p>
          <a:p>
            <a:endParaRPr lang="en-US" b="1" dirty="0"/>
          </a:p>
          <a:p>
            <a:r>
              <a:rPr lang="en-US" dirty="0"/>
              <a:t>A stochastic implementation of our compartment ODE model but there is randomness in events happening</a:t>
            </a:r>
          </a:p>
          <a:p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D06C5C-03B7-8596-517D-5FABD58AA7F6}"/>
              </a:ext>
            </a:extLst>
          </p:cNvPr>
          <p:cNvSpPr txBox="1"/>
          <p:nvPr/>
        </p:nvSpPr>
        <p:spPr>
          <a:xfrm>
            <a:off x="233563" y="4054158"/>
            <a:ext cx="2732955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Individual-based model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Tracks each individual, each with their own epidemiological characteristics; this model class also introduces the idea of randomness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266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What type of mathematical models should we build?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7"/>
            <a:ext cx="8229600" cy="5243657"/>
          </a:xfrm>
        </p:spPr>
        <p:txBody>
          <a:bodyPr/>
          <a:lstStyle/>
          <a:p>
            <a:r>
              <a:rPr lang="en-GB" i="1" dirty="0"/>
              <a:t>Main Question: how do we choose a model type and a model structure?</a:t>
            </a:r>
            <a:br>
              <a:rPr lang="en-GB" i="1" dirty="0"/>
            </a:br>
            <a:br>
              <a:rPr lang="en-GB" i="1" dirty="0"/>
            </a:br>
            <a:r>
              <a:rPr lang="en-GB" i="1" dirty="0"/>
              <a:t>Key principle: build with parsimony (“as simple as necessary”)</a:t>
            </a:r>
          </a:p>
          <a:p>
            <a:pPr lvl="2"/>
            <a:endParaRPr lang="en-GB" dirty="0"/>
          </a:p>
          <a:p>
            <a:pPr lvl="2"/>
            <a:r>
              <a:rPr lang="en-GB" dirty="0"/>
              <a:t>What is the research question?</a:t>
            </a:r>
          </a:p>
          <a:p>
            <a:pPr lvl="2"/>
            <a:r>
              <a:rPr dirty="0"/>
              <a:t>How big is the population?</a:t>
            </a:r>
          </a:p>
          <a:p>
            <a:pPr lvl="2"/>
            <a:r>
              <a:rPr dirty="0"/>
              <a:t>Are there stochastic fluctuations in the data that cannot be mechanistically accounted for?</a:t>
            </a:r>
          </a:p>
          <a:p>
            <a:pPr lvl="2"/>
            <a:r>
              <a:rPr dirty="0"/>
              <a:t>Do we </a:t>
            </a:r>
            <a:r>
              <a:rPr lang="en-GB" dirty="0"/>
              <a:t>need </a:t>
            </a:r>
            <a:r>
              <a:rPr dirty="0"/>
              <a:t>to track every individual?</a:t>
            </a:r>
          </a:p>
          <a:p>
            <a:pPr lvl="2"/>
            <a:r>
              <a:rPr dirty="0"/>
              <a:t>What type of events are we modelling and how do we </a:t>
            </a:r>
            <a:r>
              <a:rPr dirty="0" err="1"/>
              <a:t>parameterise</a:t>
            </a:r>
            <a:r>
              <a:rPr dirty="0"/>
              <a:t> them?</a:t>
            </a:r>
          </a:p>
          <a:p>
            <a:pPr lvl="2"/>
            <a:r>
              <a:rPr dirty="0"/>
              <a:t>What type o</a:t>
            </a:r>
            <a:r>
              <a:rPr lang="en-GB" dirty="0"/>
              <a:t>f data do we have?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13BE2-41CF-4CC7-B75C-352C4CAAB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3C23B-9F4F-2B61-C6E3-EF190FDF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C25378C-C852-6408-F53C-3F098E1AF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dirty="0"/>
              <a:t>Wrapping up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2FF97-BAEC-0BF9-D429-CCD657828D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77817"/>
            <a:ext cx="8229600" cy="5243657"/>
          </a:xfrm>
        </p:spPr>
        <p:txBody>
          <a:bodyPr/>
          <a:lstStyle/>
          <a:p>
            <a:r>
              <a:rPr lang="en-GB" dirty="0"/>
              <a:t>Any final questions?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4775A6-2F80-1043-C846-EC9A679B4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12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F07FA-22C9-59D1-B329-45580F84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8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4F6E61-785A-1B37-F17C-B72A0CEB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3450"/>
            <a:ext cx="9144000" cy="1342197"/>
          </a:xfrm>
        </p:spPr>
        <p:txBody>
          <a:bodyPr/>
          <a:lstStyle/>
          <a:p>
            <a:r>
              <a:rPr lang="en-US" altLang="zh-CN" dirty="0"/>
              <a:t>Photo time!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74340"/>
      </p:ext>
    </p:extLst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SHTM_Presentation_Template_4.3.potx" id="{36DD23E2-2B4D-4C02-87ED-940A54CBCDE4}" vid="{3E1D11D4-E105-447B-B68A-CA0B015ED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470</Words>
  <Application>Microsoft Macintosh PowerPoint</Application>
  <PresentationFormat>On-screen Show (4:3)</PresentationFormat>
  <Paragraphs>64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merriweather</vt:lpstr>
      <vt:lpstr>Open Sans</vt:lpstr>
      <vt:lpstr>Open Sans</vt:lpstr>
      <vt:lpstr>Main_Presentation_Title_Page</vt:lpstr>
      <vt:lpstr>Modern Techniques in Modelling</vt:lpstr>
      <vt:lpstr>Who we are</vt:lpstr>
      <vt:lpstr>Next steps</vt:lpstr>
      <vt:lpstr>Recommended textbooks</vt:lpstr>
      <vt:lpstr>Additional resources</vt:lpstr>
      <vt:lpstr>Which models did we see in the course?</vt:lpstr>
      <vt:lpstr>What type of mathematical models should we build? </vt:lpstr>
      <vt:lpstr>Wrapping up </vt:lpstr>
      <vt:lpstr>Photo time!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23</TotalTime>
  <Words>14</Words>
  <Application>Microsoft Office PowerPoint</Application>
  <PresentationFormat>On-screen Show 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merriweather</vt:lpstr>
      <vt:lpstr>Open Sans</vt:lpstr>
      <vt:lpstr>Open Sans</vt:lpstr>
      <vt:lpstr>Main_Presentation_Title_Page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School of Hygiene &amp; Tropical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Techniques in Modelling</dc:title>
  <dc:creator/>
  <cp:keywords/>
  <cp:lastModifiedBy>Nicholas Davies</cp:lastModifiedBy>
  <cp:revision>59</cp:revision>
  <dcterms:created xsi:type="dcterms:W3CDTF">2019-06-12T07:36:02Z</dcterms:created>
  <dcterms:modified xsi:type="dcterms:W3CDTF">2026-09-04T14:00:05Z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../../Infrastructure/extras.bib</vt:lpwstr>
  </property>
  <property fmtid="{D5CDD505-2E9C-101B-9397-08002B2CF9AE}" pid="3" name="csl">
    <vt:lpwstr>../../Infrastructure/chicago-author-date.csl</vt:lpwstr>
  </property>
  <property fmtid="{D5CDD505-2E9C-101B-9397-08002B2CF9AE}" pid="4" name="date">
    <vt:lpwstr>June 2019</vt:lpwstr>
  </property>
  <property fmtid="{D5CDD505-2E9C-101B-9397-08002B2CF9AE}" pid="5" name="header-includes">
    <vt:lpwstr>---------</vt:lpwstr>
  </property>
  <property fmtid="{D5CDD505-2E9C-101B-9397-08002B2CF9AE}" pid="6" name="output">
    <vt:lpwstr/>
  </property>
  <property fmtid="{D5CDD505-2E9C-101B-9397-08002B2CF9AE}" pid="7" name="tables">
    <vt:lpwstr>yes</vt:lpwstr>
  </property>
</Properties>
</file>