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Props/app0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openxmlformats.org/package/2006/relationships/metadata/extended-properties" Target="docProps/app0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aveSubsetFonts="1" autoCompressPictures="0">
  <p:sldMasterIdLst>
    <p:sldMasterId id="2147483648" r:id="rId1"/>
  </p:sldMasterIdLst>
  <p:notesMasterIdLst>
    <p:notesMasterId r:id="rId10"/>
  </p:notesMasterIdLst>
  <p:sldIdLst>
    <p:sldId id="273" r:id="rId2"/>
    <p:sldId id="274" r:id="rId3"/>
    <p:sldId id="275" r:id="rId4"/>
    <p:sldId id="276" r:id="rId5"/>
    <p:sldId id="277" r:id="rId6"/>
    <p:sldId id="278" r:id="rId7"/>
    <p:sldId id="279" r:id="rId8"/>
    <p:sldId id="280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160" autoAdjust="0"/>
    <p:restoredTop sz="94626"/>
  </p:normalViewPr>
  <p:slideViewPr>
    <p:cSldViewPr snapToGrid="0" snapToObjects="1">
      <p:cViewPr varScale="1">
        <p:scale>
          <a:sx n="127" d="100"/>
          <a:sy n="127" d="100"/>
        </p:scale>
        <p:origin x="2024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2C08CDA-29C6-4C4F-9345-278F31C990CA}" type="datetimeFigureOut">
              <a:rPr lang="en-GB" smtClean="0"/>
              <a:t>26/08/2026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0338F0A-4DAF-4A34-8201-1D9E579B0E2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898112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I’ll try to finish a few minutes early to give you the opportunity to connect to the </a:t>
            </a:r>
            <a:r>
              <a:rPr lang="en-GB" dirty="0" err="1"/>
              <a:t>wifi</a:t>
            </a:r>
            <a:r>
              <a:rPr lang="en-GB" dirty="0"/>
              <a:t> and access the </a:t>
            </a:r>
            <a:r>
              <a:rPr lang="en-GB" dirty="0" err="1"/>
              <a:t>moodle</a:t>
            </a:r>
            <a:r>
              <a:rPr lang="en-GB" dirty="0"/>
              <a:t> documents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08F263-929A-49E4-AD2F-77AD84BC4D56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0913630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I’ll try to finish a few minutes early to give you the opportunity to connect to the </a:t>
            </a:r>
            <a:r>
              <a:rPr lang="en-GB" dirty="0" err="1"/>
              <a:t>wifi</a:t>
            </a:r>
            <a:r>
              <a:rPr lang="en-GB" dirty="0"/>
              <a:t> and access the </a:t>
            </a:r>
            <a:r>
              <a:rPr lang="en-GB" dirty="0" err="1"/>
              <a:t>moodle</a:t>
            </a:r>
            <a:r>
              <a:rPr lang="en-GB" dirty="0"/>
              <a:t> documents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08F263-929A-49E4-AD2F-77AD84BC4D56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6496277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This is the first iteration of this course</a:t>
            </a:r>
          </a:p>
          <a:p>
            <a:r>
              <a:rPr lang="en-GB" dirty="0"/>
              <a:t>Inevitably some things will not quite go to plan</a:t>
            </a:r>
          </a:p>
          <a:p>
            <a:r>
              <a:rPr lang="en-GB" dirty="0"/>
              <a:t>Please let us know suggested improvements along the way!</a:t>
            </a:r>
          </a:p>
          <a:p>
            <a:endParaRPr lang="en-GB" dirty="0"/>
          </a:p>
          <a:p>
            <a:r>
              <a:rPr lang="en-GB" dirty="0"/>
              <a:t>no formal evaluation </a:t>
            </a:r>
          </a:p>
          <a:p>
            <a:endParaRPr lang="en-GB" dirty="0"/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08F263-929A-49E4-AD2F-77AD84BC4D56}" type="slidenum">
              <a:rPr lang="en-GB" smtClean="0"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904279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098097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577772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0" y="6332084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14600" y="6332084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086600" y="6332084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7D7EC250-E796-438C-AFE1-ABBE2451286B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457200" y="1477818"/>
            <a:ext cx="8229600" cy="482138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="0" i="0" baseline="0">
                <a:latin typeface="open sans" charset="0"/>
              </a:defRPr>
            </a:lvl1pPr>
          </a:lstStyle>
          <a:p>
            <a:pPr fontAlgn="t"/>
            <a:r>
              <a:rPr lang="en-US" sz="1800" b="1" i="0" baseline="0" dirty="0">
                <a:solidFill>
                  <a:schemeClr val="tx1"/>
                </a:solidFill>
                <a:latin typeface="open sans" charset="0"/>
              </a:rPr>
              <a:t>Body Header</a:t>
            </a:r>
          </a:p>
          <a:p>
            <a:r>
              <a:rPr lang="en-US" sz="1800" b="0" i="0" baseline="0" dirty="0">
                <a:solidFill>
                  <a:schemeClr val="tx1"/>
                </a:solidFill>
                <a:latin typeface="open sans" charset="0"/>
              </a:rPr>
              <a:t>Body text</a:t>
            </a:r>
          </a:p>
        </p:txBody>
      </p:sp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457201" y="279132"/>
            <a:ext cx="6705600" cy="623236"/>
          </a:xfrm>
          <a:prstGeom prst="rect">
            <a:avLst/>
          </a:prstGeom>
        </p:spPr>
        <p:txBody>
          <a:bodyPr>
            <a:normAutofit/>
          </a:bodyPr>
          <a:lstStyle>
            <a:lvl1pPr algn="l">
              <a:defRPr sz="2401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7E6475D-BDED-4D62-A64C-203EC56ADB6A}" type="slidenum">
              <a:rPr lang="en-GB" smtClean="0"/>
              <a:t>‹#›</a:t>
            </a:fld>
            <a:endParaRPr lang="en-GB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0" y="6356350"/>
            <a:ext cx="2057400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14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08660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7D7EC250-E796-438C-AFE1-ABBE2451286B}" type="slidenum">
              <a:rPr lang="en-GB" smtClean="0"/>
              <a:t>‹#›</a:t>
            </a:fld>
            <a:endParaRPr lang="en-GB"/>
          </a:p>
        </p:txBody>
      </p:sp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1" y="1709738"/>
            <a:ext cx="91440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8" name="Text Placeholder 2"/>
          <p:cNvSpPr>
            <a:spLocks noGrp="1"/>
          </p:cNvSpPr>
          <p:nvPr>
            <p:ph type="body" idx="1"/>
          </p:nvPr>
        </p:nvSpPr>
        <p:spPr>
          <a:xfrm>
            <a:off x="1" y="4589463"/>
            <a:ext cx="91440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>
          <a:xfrm>
            <a:off x="457201" y="279132"/>
            <a:ext cx="6697132" cy="623236"/>
          </a:xfrm>
          <a:prstGeom prst="rect">
            <a:avLst/>
          </a:prstGeom>
        </p:spPr>
        <p:txBody>
          <a:bodyPr>
            <a:normAutofit/>
          </a:bodyPr>
          <a:lstStyle>
            <a:lvl1pPr algn="l">
              <a:defRPr sz="2401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7E6475D-BDED-4D62-A64C-203EC56ADB6A}" type="slidenum">
              <a:rPr lang="en-GB" smtClean="0"/>
              <a:t>‹#›</a:t>
            </a:fld>
            <a:endParaRPr lang="en-GB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7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>
              <a:defRPr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>
              <a:defRPr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>
              <a:defRPr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>
              <a:defRPr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>
              <a:defRPr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>
              <a:defRPr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>
              <a:defRPr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>
              <a:defRPr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787246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(Dark)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7201" y="279132"/>
            <a:ext cx="6705600" cy="623236"/>
          </a:xfrm>
          <a:prstGeom prst="rect">
            <a:avLst/>
          </a:prstGeom>
        </p:spPr>
        <p:txBody>
          <a:bodyPr>
            <a:normAutofit/>
          </a:bodyPr>
          <a:lstStyle>
            <a:lvl1pPr algn="l">
              <a:defRPr sz="2401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457200" y="1477818"/>
            <a:ext cx="8229600" cy="482138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="0" i="0" baseline="0">
                <a:latin typeface="open sans" charset="0"/>
              </a:defRPr>
            </a:lvl1pPr>
          </a:lstStyle>
          <a:p>
            <a:pPr fontAlgn="t"/>
            <a:r>
              <a:rPr lang="en-US" sz="1800" b="1" i="0" baseline="0" dirty="0">
                <a:solidFill>
                  <a:schemeClr val="tx1"/>
                </a:solidFill>
                <a:latin typeface="open sans" charset="0"/>
              </a:rPr>
              <a:t>Body Header</a:t>
            </a:r>
          </a:p>
          <a:p>
            <a:r>
              <a:rPr lang="en-US" sz="1800" b="0" i="0" baseline="0" dirty="0">
                <a:solidFill>
                  <a:schemeClr val="tx1"/>
                </a:solidFill>
                <a:latin typeface="open sans" charset="0"/>
              </a:rPr>
              <a:t>Body text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7E6475D-BDED-4D62-A64C-203EC56ADB6A}" type="slidenum">
              <a:rPr lang="en-GB" smtClean="0"/>
              <a:t>‹#›</a:t>
            </a:fld>
            <a:endParaRPr lang="en-GB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50866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(pale)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1491919"/>
            <a:ext cx="5111750" cy="4807281"/>
          </a:xfrm>
          <a:prstGeom prst="rect">
            <a:avLst/>
          </a:prstGeom>
        </p:spPr>
        <p:txBody>
          <a:bodyPr/>
          <a:lstStyle>
            <a:lvl1pPr>
              <a:defRPr sz="1800" baseline="0">
                <a:latin typeface="Open Sans" charset="0"/>
              </a:defRPr>
            </a:lvl1pPr>
            <a:lvl2pPr>
              <a:defRPr sz="2101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marL="257244" marR="0" lvl="0" indent="-257244" algn="l" defTabSz="342991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457201" y="1491919"/>
            <a:ext cx="3008313" cy="480728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aseline="0">
                <a:latin typeface="Open Sans" charset="0"/>
              </a:defRPr>
            </a:lvl1pPr>
            <a:lvl2pPr marL="342991" indent="0">
              <a:buNone/>
              <a:defRPr sz="900"/>
            </a:lvl2pPr>
            <a:lvl3pPr marL="685983" indent="0">
              <a:buNone/>
              <a:defRPr sz="750"/>
            </a:lvl3pPr>
            <a:lvl4pPr marL="1028974" indent="0">
              <a:buNone/>
              <a:defRPr sz="675"/>
            </a:lvl4pPr>
            <a:lvl5pPr marL="1371966" indent="0">
              <a:buNone/>
              <a:defRPr sz="675"/>
            </a:lvl5pPr>
            <a:lvl6pPr marL="1714957" indent="0">
              <a:buNone/>
              <a:defRPr sz="675"/>
            </a:lvl6pPr>
            <a:lvl7pPr marL="2057949" indent="0">
              <a:buNone/>
              <a:defRPr sz="675"/>
            </a:lvl7pPr>
            <a:lvl8pPr marL="2400940" indent="0">
              <a:buNone/>
              <a:defRPr sz="675"/>
            </a:lvl8pPr>
            <a:lvl9pPr marL="2743932" indent="0">
              <a:buNone/>
              <a:defRPr sz="675"/>
            </a:lvl9pPr>
          </a:lstStyle>
          <a:p>
            <a:pPr fontAlgn="t"/>
            <a:r>
              <a:rPr lang="en-US" sz="1800" b="1" i="0" baseline="0" dirty="0">
                <a:solidFill>
                  <a:schemeClr val="tx1"/>
                </a:solidFill>
                <a:latin typeface="open sans" charset="0"/>
              </a:rPr>
              <a:t>Body Header</a:t>
            </a:r>
          </a:p>
          <a:p>
            <a:r>
              <a:rPr lang="en-US" sz="1800" b="0" i="0" baseline="0" dirty="0">
                <a:solidFill>
                  <a:schemeClr val="tx1"/>
                </a:solidFill>
                <a:latin typeface="open sans" charset="0"/>
              </a:rPr>
              <a:t>Body text</a:t>
            </a:r>
          </a:p>
        </p:txBody>
      </p:sp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279132"/>
            <a:ext cx="6697133" cy="623236"/>
          </a:xfrm>
          <a:prstGeom prst="rect">
            <a:avLst/>
          </a:prstGeom>
        </p:spPr>
        <p:txBody>
          <a:bodyPr>
            <a:normAutofit/>
          </a:bodyPr>
          <a:lstStyle>
            <a:lvl1pPr algn="l">
              <a:defRPr sz="2401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7E6475D-BDED-4D62-A64C-203EC56ADB6A}" type="slidenum">
              <a:rPr lang="en-GB" smtClean="0"/>
              <a:t>‹#›</a:t>
            </a:fld>
            <a:endParaRPr lang="en-GB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8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426457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3" r:id="rId2"/>
    <p:sldLayoutId id="2147483668" r:id="rId3"/>
    <p:sldLayoutId id="2147483656" r:id="rId4"/>
    <p:sldLayoutId id="2147483650" r:id="rId5"/>
    <p:sldLayoutId id="2147483665" r:id="rId6"/>
  </p:sldLayoutIdLst>
  <p:hf hdr="0" ftr="0" dt="0"/>
  <p:txStyles>
    <p:titleStyle>
      <a:lvl1pPr algn="ctr" defTabSz="342991" rtl="0" eaLnBrk="1" latinLnBrk="0" hangingPunct="1">
        <a:spcBef>
          <a:spcPct val="0"/>
        </a:spcBef>
        <a:buNone/>
        <a:defRPr sz="3301" kern="1200" baseline="0">
          <a:solidFill>
            <a:schemeClr val="bg2"/>
          </a:solidFill>
          <a:latin typeface="merriweather" charset="0"/>
          <a:ea typeface="+mj-ea"/>
          <a:cs typeface="+mj-cs"/>
        </a:defRPr>
      </a:lvl1pPr>
    </p:titleStyle>
    <p:bodyStyle>
      <a:lvl1pPr marL="257244" indent="-257244" algn="l" defTabSz="342991" rtl="0" eaLnBrk="1" latinLnBrk="0" hangingPunct="1">
        <a:spcBef>
          <a:spcPct val="20000"/>
        </a:spcBef>
        <a:buFont typeface="Arial"/>
        <a:buChar char="•"/>
        <a:defRPr sz="2401" kern="1200">
          <a:solidFill>
            <a:schemeClr val="tx1"/>
          </a:solidFill>
          <a:latin typeface="+mn-lt"/>
          <a:ea typeface="+mn-ea"/>
          <a:cs typeface="+mn-cs"/>
        </a:defRPr>
      </a:lvl1pPr>
      <a:lvl2pPr marL="557361" indent="-214370" algn="l" defTabSz="342991" rtl="0" eaLnBrk="1" latinLnBrk="0" hangingPunct="1">
        <a:spcBef>
          <a:spcPct val="20000"/>
        </a:spcBef>
        <a:buFont typeface="Arial"/>
        <a:buChar char="–"/>
        <a:defRPr sz="2101" kern="1200">
          <a:solidFill>
            <a:schemeClr val="tx1"/>
          </a:solidFill>
          <a:latin typeface="+mn-lt"/>
          <a:ea typeface="+mn-ea"/>
          <a:cs typeface="+mn-cs"/>
        </a:defRPr>
      </a:lvl2pPr>
      <a:lvl3pPr marL="857479" indent="-171496" algn="l" defTabSz="342991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470" indent="-171496" algn="l" defTabSz="342991" rtl="0" eaLnBrk="1" latinLnBrk="0" hangingPunct="1">
        <a:spcBef>
          <a:spcPct val="20000"/>
        </a:spcBef>
        <a:buFont typeface="Arial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461" indent="-171496" algn="l" defTabSz="342991" rtl="0" eaLnBrk="1" latinLnBrk="0" hangingPunct="1">
        <a:spcBef>
          <a:spcPct val="20000"/>
        </a:spcBef>
        <a:buFont typeface="Arial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886453" indent="-171496" algn="l" defTabSz="342991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9444" indent="-171496" algn="l" defTabSz="342991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2436" indent="-171496" algn="l" defTabSz="342991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5427" indent="-171496" algn="l" defTabSz="342991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91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91" algn="l" defTabSz="342991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983" algn="l" defTabSz="342991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974" algn="l" defTabSz="342991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966" algn="l" defTabSz="342991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957" algn="l" defTabSz="342991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949" algn="l" defTabSz="342991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940" algn="l" defTabSz="342991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932" algn="l" defTabSz="342991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mailto:Nicholas.Davies@lshtm.ac.uk" TargetMode="External"/><Relationship Id="rId2" Type="http://schemas.openxmlformats.org/officeDocument/2006/relationships/hyperlink" Target="mailto:Katherine.Atkins@lshtm.ac.uk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mailto:Francesco.Grisolia@lshtm.ac.uk" TargetMode="External"/><Relationship Id="rId5" Type="http://schemas.openxmlformats.org/officeDocument/2006/relationships/hyperlink" Target="mailto:Kaitlyn.Johnson@lshtm.ac.uk" TargetMode="External"/><Relationship Id="rId4" Type="http://schemas.openxmlformats.org/officeDocument/2006/relationships/hyperlink" Target="mailto:Yang.Liu@lshtm.ac.uk" TargetMode="Externa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cmmid.github.io/mtm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936297"/>
            <a:ext cx="9144000" cy="2387600"/>
          </a:xfrm>
          <a:prstGeom prst="rect">
            <a:avLst/>
          </a:prstGeom>
        </p:spPr>
        <p:txBody>
          <a:bodyPr/>
          <a:lstStyle/>
          <a:p>
            <a:pPr marL="0" lvl="0" indent="0">
              <a:buNone/>
            </a:pPr>
            <a:r>
              <a:rPr sz="5600" dirty="0"/>
              <a:t>Modern Techniques in Modelling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577772"/>
            <a:ext cx="9144000" cy="1655762"/>
          </a:xfrm>
          <a:prstGeom prst="rect">
            <a:avLst/>
          </a:prstGeom>
        </p:spPr>
        <p:txBody>
          <a:bodyPr/>
          <a:lstStyle/>
          <a:p>
            <a:pPr marL="0" lvl="0" indent="0">
              <a:buNone/>
            </a:pPr>
            <a:br/>
            <a:br/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3D731D8-BB07-455F-A3EC-FA9C55B091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477818"/>
            <a:ext cx="8229600" cy="4821382"/>
          </a:xfrm>
        </p:spPr>
        <p:txBody>
          <a:bodyPr/>
          <a:lstStyle/>
          <a:p>
            <a:r>
              <a:rPr lang="en-GB" sz="20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Course organisers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0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Katie Atkins, PhD </a:t>
            </a:r>
            <a:r>
              <a:rPr lang="en-GB" sz="20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hlinkClick r:id="rId2"/>
              </a:rPr>
              <a:t>Katherine.Atkins@lshtm.ac.uk</a:t>
            </a:r>
            <a:endParaRPr lang="en-GB" sz="20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0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Nicholas Davies, PhD </a:t>
            </a:r>
            <a:r>
              <a:rPr lang="en-GB" sz="2000" b="0" i="0" dirty="0">
                <a:solidFill>
                  <a:srgbClr val="605E5C"/>
                </a:solidFill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hlinkClick r:id="rId3"/>
              </a:rPr>
              <a:t>Nicholas.Davies@lshtm.ac.uk</a:t>
            </a:r>
            <a:endParaRPr lang="en-GB" sz="2000" b="0" i="0" dirty="0">
              <a:solidFill>
                <a:srgbClr val="605E5C"/>
              </a:solidFill>
              <a:effectLst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0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Roz Eggo, PhD </a:t>
            </a:r>
            <a:r>
              <a:rPr lang="en-GB" sz="2000" dirty="0">
                <a:solidFill>
                  <a:srgbClr val="605E5C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hlinkClick r:id="rId4"/>
              </a:rPr>
              <a:t>Roz.Eggo@lshtm.ac.uk</a:t>
            </a:r>
            <a:endParaRPr lang="en-GB" sz="2000" dirty="0">
              <a:solidFill>
                <a:srgbClr val="605E5C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0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Kaitlyn Johnson, PhD </a:t>
            </a:r>
            <a:r>
              <a:rPr lang="en-GB" sz="20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hlinkClick r:id="rId5"/>
              </a:rPr>
              <a:t>Kaitlyn.Johnson@lshtm.ac.uk</a:t>
            </a:r>
            <a:r>
              <a:rPr lang="en-GB" sz="20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</a:p>
          <a:p>
            <a:endParaRPr lang="en-GB" sz="2000" b="1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r>
              <a:rPr lang="en-GB" sz="20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Course administration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0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Francesco </a:t>
            </a:r>
            <a:r>
              <a:rPr lang="en-GB" sz="200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Grisolia</a:t>
            </a:r>
            <a:r>
              <a:rPr lang="en-GB" sz="20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GB" sz="20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  <a:hlinkClick r:id="rId6"/>
              </a:rPr>
              <a:t>Francesco.Grisolia@lshtm.ac.uk</a:t>
            </a:r>
            <a:endParaRPr lang="en-GB" sz="20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endParaRPr lang="en-GB" sz="200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r>
              <a:rPr lang="en-GB" sz="20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Lecturers and Demonstrators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Sam Abbott, Alexis Robert, Kaja Abbas (All LSHTM / CMMID-based)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45A8A3A-DA59-47AB-BDAD-9213BE8A9C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Who we are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8654F8-75E5-4B1B-9FD2-0A08E3C0265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7E6475D-BDED-4D62-A64C-203EC56ADB6A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319654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1773FF7-121A-404D-A81E-8976A196E0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GB" sz="2000" dirty="0"/>
              <a:t>some exposure to the theory and use of infectious disease modelling &amp; like to start coding their own models using R </a:t>
            </a:r>
            <a:br>
              <a:rPr lang="en-GB" sz="2000" dirty="0"/>
            </a:br>
            <a:br>
              <a:rPr lang="en-GB" sz="2000" dirty="0"/>
            </a:br>
            <a:r>
              <a:rPr lang="en-GB" sz="2000" b="1" dirty="0"/>
              <a:t>OR</a:t>
            </a:r>
            <a:endParaRPr lang="en-GB" sz="2000" dirty="0"/>
          </a:p>
          <a:p>
            <a:pPr marL="285750" indent="-285750"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GB" sz="2000" dirty="0"/>
              <a:t>know some R but do not have experience using R to code infectious disease models </a:t>
            </a:r>
            <a:br>
              <a:rPr lang="en-GB" sz="2000" dirty="0"/>
            </a:br>
            <a:br>
              <a:rPr lang="en-GB" sz="2000" dirty="0"/>
            </a:br>
            <a:r>
              <a:rPr lang="en-GB" sz="2000" b="1" dirty="0"/>
              <a:t>OR</a:t>
            </a:r>
            <a:endParaRPr lang="en-GB" sz="2000" dirty="0"/>
          </a:p>
          <a:p>
            <a:pPr marL="285750" indent="-285750"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GB" sz="2000" dirty="0"/>
              <a:t>will be conducting research using infectious disease models in R</a:t>
            </a:r>
            <a:br>
              <a:rPr lang="en-GB" sz="2000" dirty="0"/>
            </a:br>
            <a:br>
              <a:rPr lang="en-GB" sz="2000" dirty="0"/>
            </a:br>
            <a:r>
              <a:rPr lang="en-GB" sz="2000" b="1" dirty="0"/>
              <a:t>OR</a:t>
            </a:r>
            <a:endParaRPr lang="en-GB" sz="2000" dirty="0"/>
          </a:p>
          <a:p>
            <a:pPr marL="285750" indent="-285750"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GB" sz="2000" dirty="0"/>
              <a:t>want a deeper understanding of techniques for implementing models.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4C66979-2AFF-4BD2-A9B5-62FE830A6F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Who you are (= scope of the course)</a:t>
            </a:r>
          </a:p>
        </p:txBody>
      </p:sp>
    </p:spTree>
    <p:extLst>
      <p:ext uri="{BB962C8B-B14F-4D97-AF65-F5344CB8AC3E}">
        <p14:creationId xmlns:p14="http://schemas.microsoft.com/office/powerpoint/2010/main" val="25410890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53CC119-7C2D-4D46-8BA8-B1FE8EDEE2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3873" y="1319315"/>
            <a:ext cx="8830917" cy="5141120"/>
          </a:xfrm>
        </p:spPr>
        <p:txBody>
          <a:bodyPr/>
          <a:lstStyle/>
          <a:p>
            <a:pPr>
              <a:spcBef>
                <a:spcPts val="0"/>
              </a:spcBef>
              <a:spcAft>
                <a:spcPts val="1200"/>
              </a:spcAft>
            </a:pPr>
            <a:br>
              <a:rPr lang="en-GB" sz="2000" b="1" dirty="0"/>
            </a:br>
            <a:r>
              <a:rPr lang="en-GB" sz="2000" b="1" dirty="0"/>
              <a:t>Logistics</a:t>
            </a:r>
          </a:p>
          <a:p>
            <a:pPr marL="342900" indent="-3429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GB" sz="2000" dirty="0"/>
              <a:t>The days will run ~10-4.30/5pm (London) each day, with regular comfort breaks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For </a:t>
            </a:r>
            <a:r>
              <a:rPr lang="en-GB" sz="2000" dirty="0">
                <a:solidFill>
                  <a:srgbClr val="0070C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online</a:t>
            </a:r>
            <a:r>
              <a:rPr lang="en-GB" sz="20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attendees: </a:t>
            </a:r>
          </a:p>
          <a:p>
            <a:pPr marL="900261" lvl="1" indent="-342900">
              <a:buFont typeface="Arial" panose="020B0604020202020204" pitchFamily="34" charset="0"/>
              <a:buChar char="•"/>
            </a:pPr>
            <a:r>
              <a:rPr lang="en-GB" sz="20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Please make sure your name on Zoom is your </a:t>
            </a:r>
            <a:r>
              <a:rPr lang="en-GB" sz="20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first name + last name or last initial</a:t>
            </a:r>
            <a:r>
              <a:rPr lang="en-GB" sz="20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to facilitate talking to each other, and for security</a:t>
            </a:r>
          </a:p>
          <a:p>
            <a:pPr marL="900261" lvl="1" indent="-342900">
              <a:buFont typeface="Arial" panose="020B0604020202020204" pitchFamily="34" charset="0"/>
              <a:buChar char="•"/>
            </a:pPr>
            <a:r>
              <a:rPr lang="en-GB" sz="20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To ask any question or raise an issue during a lecture, </a:t>
            </a:r>
            <a:r>
              <a:rPr lang="en-GB" sz="20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please raise your hand</a:t>
            </a:r>
            <a:r>
              <a:rPr lang="en-GB" sz="20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– a demonstrator will be monitoring the Zoom</a:t>
            </a:r>
          </a:p>
          <a:p>
            <a:pPr marL="900261" lvl="1" indent="-342900">
              <a:buFont typeface="Arial" panose="020B0604020202020204" pitchFamily="34" charset="0"/>
              <a:buChar char="•"/>
            </a:pPr>
            <a:r>
              <a:rPr lang="en-GB" sz="200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Please keep cameras on when possible to encourage discussion</a:t>
            </a:r>
            <a:br>
              <a:rPr lang="en-GB" sz="230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</a:br>
            <a:endParaRPr lang="en-GB" sz="2301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endParaRPr lang="en-GB" sz="2000" b="0" i="0" dirty="0">
              <a:solidFill>
                <a:srgbClr val="605E5C"/>
              </a:solidFill>
              <a:effectLst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>
              <a:spcBef>
                <a:spcPts val="0"/>
              </a:spcBef>
              <a:spcAft>
                <a:spcPts val="1200"/>
              </a:spcAft>
            </a:pPr>
            <a:endParaRPr lang="en-GB" sz="2000" dirty="0"/>
          </a:p>
          <a:p>
            <a:pPr marL="342900" indent="-3429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endParaRPr lang="en-GB" sz="2000" dirty="0"/>
          </a:p>
          <a:p>
            <a:pPr>
              <a:spcBef>
                <a:spcPts val="0"/>
              </a:spcBef>
              <a:spcAft>
                <a:spcPts val="1200"/>
              </a:spcAft>
            </a:pPr>
            <a:endParaRPr lang="en-GB" sz="2000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E82D007-EC79-4E22-A9B4-71913D4AFE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Logistics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B2EB673-1EAC-4FE5-A2CC-07233313750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7E6475D-BDED-4D62-A64C-203EC56ADB6A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828637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53CC119-7C2D-4D46-8BA8-B1FE8EDEE2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3873" y="1319315"/>
            <a:ext cx="8830917" cy="5141120"/>
          </a:xfrm>
        </p:spPr>
        <p:txBody>
          <a:bodyPr/>
          <a:lstStyle/>
          <a:p>
            <a:pPr>
              <a:spcBef>
                <a:spcPts val="0"/>
              </a:spcBef>
              <a:spcAft>
                <a:spcPts val="1200"/>
              </a:spcAft>
            </a:pPr>
            <a:r>
              <a:rPr lang="en-GB" sz="2000" b="1" dirty="0"/>
              <a:t>Resources</a:t>
            </a:r>
          </a:p>
          <a:p>
            <a:pPr marL="285750" indent="-28575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GB" sz="2000" dirty="0"/>
              <a:t>All material (timetable, slides, </a:t>
            </a:r>
            <a:r>
              <a:rPr lang="en-GB" sz="2000" dirty="0" err="1"/>
              <a:t>practicals</a:t>
            </a:r>
            <a:r>
              <a:rPr lang="en-GB" sz="2000" dirty="0"/>
              <a:t> etc) on the course website:</a:t>
            </a:r>
          </a:p>
          <a:p>
            <a:pPr algn="ctr">
              <a:spcBef>
                <a:spcPts val="0"/>
              </a:spcBef>
              <a:spcAft>
                <a:spcPts val="1200"/>
              </a:spcAft>
            </a:pPr>
            <a:r>
              <a:rPr lang="en-GB" sz="2000" dirty="0"/>
              <a:t> </a:t>
            </a:r>
            <a:r>
              <a:rPr lang="en-GB" sz="2400" dirty="0">
                <a:hlinkClick r:id="rId3"/>
              </a:rPr>
              <a:t>cmmid.github.io/mtm</a:t>
            </a:r>
            <a:endParaRPr lang="en-GB" sz="2400" dirty="0"/>
          </a:p>
          <a:p>
            <a:pPr>
              <a:spcBef>
                <a:spcPts val="0"/>
              </a:spcBef>
              <a:spcAft>
                <a:spcPts val="1200"/>
              </a:spcAft>
            </a:pPr>
            <a:br>
              <a:rPr lang="en-GB" sz="800" dirty="0"/>
            </a:br>
            <a:r>
              <a:rPr lang="en-GB" sz="1600" dirty="0"/>
              <a:t>      (shout out now if you haven’t got access! Or cannot access </a:t>
            </a:r>
            <a:r>
              <a:rPr lang="en-GB" sz="1600" dirty="0" err="1"/>
              <a:t>wifi</a:t>
            </a:r>
            <a:r>
              <a:rPr lang="en-GB" sz="1600" dirty="0"/>
              <a:t>)</a:t>
            </a:r>
          </a:p>
          <a:p>
            <a:pPr marL="285750" indent="-28575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GB" sz="2000" dirty="0"/>
              <a:t>All exercises completed using </a:t>
            </a:r>
            <a:r>
              <a:rPr lang="en-GB" sz="2000" dirty="0" err="1"/>
              <a:t>Rstudio</a:t>
            </a:r>
            <a:r>
              <a:rPr lang="en-GB" sz="2000" dirty="0"/>
              <a:t> </a:t>
            </a:r>
            <a:br>
              <a:rPr lang="en-GB" sz="2000" dirty="0"/>
            </a:br>
            <a:r>
              <a:rPr lang="en-GB" sz="1600" dirty="0"/>
              <a:t>(shout out now if you haven’t downloaded it!)</a:t>
            </a:r>
          </a:p>
          <a:p>
            <a:pPr marL="285750" indent="-28575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GB" sz="2000" dirty="0"/>
              <a:t>Lecture recordings on Moodle (</a:t>
            </a:r>
            <a:r>
              <a:rPr lang="en-GB" sz="2000" u="sng" dirty="0" err="1">
                <a:solidFill>
                  <a:schemeClr val="accent3"/>
                </a:solidFill>
              </a:rPr>
              <a:t>ble.lshtm.ac.uk</a:t>
            </a:r>
            <a:r>
              <a:rPr lang="en-GB" sz="2000" dirty="0"/>
              <a:t>) at the end of each day</a:t>
            </a:r>
          </a:p>
          <a:p>
            <a:pPr marL="285750" indent="-28575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GB" sz="2000" dirty="0"/>
              <a:t>Practical session exercises and solutions on the web site</a:t>
            </a:r>
            <a:br>
              <a:rPr lang="en-GB" sz="2000" dirty="0"/>
            </a:br>
            <a:endParaRPr lang="en-GB" sz="2000" dirty="0"/>
          </a:p>
          <a:p>
            <a:pPr marL="285750" indent="-28575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GB" sz="2000" dirty="0"/>
              <a:t>DISCUSSION BOARD on Moodle for </a:t>
            </a:r>
            <a:r>
              <a:rPr lang="en-GB" sz="2000" b="1" dirty="0"/>
              <a:t>everyone </a:t>
            </a:r>
            <a:br>
              <a:rPr lang="en-GB" sz="2000" b="1" dirty="0"/>
            </a:br>
            <a:r>
              <a:rPr lang="en-GB" sz="2000" dirty="0"/>
              <a:t> - please feel free to introduce yourself more fully there if you wish</a:t>
            </a:r>
            <a:br>
              <a:rPr lang="en-GB" sz="2000" b="1" dirty="0"/>
            </a:br>
            <a:endParaRPr lang="en-GB" sz="2000" dirty="0"/>
          </a:p>
          <a:p>
            <a:pPr marL="342900" indent="-3429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endParaRPr lang="en-GB" sz="2000" dirty="0"/>
          </a:p>
          <a:p>
            <a:pPr>
              <a:spcBef>
                <a:spcPts val="0"/>
              </a:spcBef>
              <a:spcAft>
                <a:spcPts val="1200"/>
              </a:spcAft>
            </a:pPr>
            <a:endParaRPr lang="en-GB" sz="2000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E82D007-EC79-4E22-A9B4-71913D4AFE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Resources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B2EB673-1EAC-4FE5-A2CC-07233313750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7E6475D-BDED-4D62-A64C-203EC56ADB6A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616638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457201" y="279132"/>
            <a:ext cx="6705600" cy="623236"/>
          </a:xfrm>
          <a:prstGeom prst="rect">
            <a:avLst/>
          </a:prstGeom>
        </p:spPr>
        <p:txBody>
          <a:bodyPr/>
          <a:lstStyle/>
          <a:p>
            <a:pPr marL="0" lvl="0" indent="0">
              <a:buNone/>
            </a:pPr>
            <a:r>
              <a:t>What will you learn in this course?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457200" y="1328731"/>
            <a:ext cx="8229600" cy="4821382"/>
          </a:xfrm>
        </p:spPr>
        <p:txBody>
          <a:bodyPr/>
          <a:lstStyle/>
          <a:p>
            <a:pPr marL="342991" lvl="1" indent="0">
              <a:buNone/>
            </a:pPr>
            <a:r>
              <a:rPr lang="en-GB" sz="1800" b="1" dirty="0"/>
              <a:t>Tuesday</a:t>
            </a:r>
            <a:br>
              <a:rPr lang="en-GB" sz="1800" b="1" dirty="0"/>
            </a:br>
            <a:r>
              <a:rPr lang="en-GB" sz="1800" dirty="0"/>
              <a:t>Introduce our first mathematical model of infectious disease</a:t>
            </a:r>
          </a:p>
          <a:p>
            <a:pPr marL="342991" lvl="1" indent="0">
              <a:buNone/>
            </a:pPr>
            <a:r>
              <a:rPr lang="en-GB" sz="1800" dirty="0"/>
              <a:t>Develop differential equation models</a:t>
            </a:r>
            <a:br>
              <a:rPr lang="en-GB" sz="1800" dirty="0"/>
            </a:br>
            <a:endParaRPr lang="en-GB" sz="1800" b="1" dirty="0"/>
          </a:p>
          <a:p>
            <a:pPr marL="342991" lvl="1" indent="0">
              <a:buNone/>
            </a:pPr>
            <a:r>
              <a:rPr lang="en-GB" sz="1800" b="1" dirty="0"/>
              <a:t>Wednesday</a:t>
            </a:r>
          </a:p>
          <a:p>
            <a:pPr marL="342991" lvl="1" indent="0">
              <a:buNone/>
            </a:pPr>
            <a:r>
              <a:rPr lang="en-GB" sz="1800" dirty="0"/>
              <a:t>Extend differential equation models to metapopulations</a:t>
            </a:r>
            <a:br>
              <a:rPr lang="en-GB" sz="1800" dirty="0"/>
            </a:br>
            <a:r>
              <a:rPr lang="en-GB" sz="1800" dirty="0"/>
              <a:t>Sampling, uncertainty and sensitivity analysis</a:t>
            </a:r>
            <a:br>
              <a:rPr lang="en-GB" sz="1800" dirty="0"/>
            </a:br>
            <a:r>
              <a:rPr lang="en-GB" sz="1800" dirty="0"/>
              <a:t>Introduce some group work on a modelling problem</a:t>
            </a:r>
            <a:br>
              <a:rPr lang="en-GB" sz="1800" dirty="0"/>
            </a:br>
            <a:endParaRPr lang="en-GB" sz="1800" dirty="0"/>
          </a:p>
          <a:p>
            <a:pPr marL="342991" lvl="1" indent="0">
              <a:buNone/>
            </a:pPr>
            <a:r>
              <a:rPr lang="en-GB" sz="1800" b="1" dirty="0"/>
              <a:t>Thursday</a:t>
            </a:r>
          </a:p>
          <a:p>
            <a:pPr marL="342991" lvl="1" indent="0">
              <a:buNone/>
            </a:pPr>
            <a:r>
              <a:rPr lang="en-GB" sz="1800" dirty="0"/>
              <a:t>Network models</a:t>
            </a:r>
            <a:br>
              <a:rPr lang="en-GB" sz="1800" dirty="0"/>
            </a:br>
            <a:r>
              <a:rPr lang="en-GB" sz="1800" dirty="0"/>
              <a:t>Randomness and modelling </a:t>
            </a:r>
            <a:br>
              <a:rPr lang="en-GB" sz="1800" dirty="0"/>
            </a:br>
            <a:br>
              <a:rPr lang="en-GB" sz="1800" dirty="0"/>
            </a:br>
            <a:r>
              <a:rPr lang="en-GB" sz="1800" b="1" dirty="0"/>
              <a:t>Friday</a:t>
            </a:r>
          </a:p>
          <a:p>
            <a:pPr marL="342991" lvl="1" indent="0">
              <a:buNone/>
            </a:pPr>
            <a:r>
              <a:rPr lang="en-GB" sz="1800" dirty="0"/>
              <a:t>More on randomness and modelling</a:t>
            </a:r>
          </a:p>
          <a:p>
            <a:pPr marL="342991" lvl="1" indent="0">
              <a:buNone/>
            </a:pPr>
            <a:r>
              <a:rPr lang="en-GB" sz="1800" dirty="0"/>
              <a:t>Group work on modelling problem</a:t>
            </a:r>
          </a:p>
          <a:p>
            <a:pPr marL="342991" lvl="1" indent="0">
              <a:buNone/>
            </a:pPr>
            <a:r>
              <a:rPr lang="en-GB" altLang="zh-CN" sz="1800" dirty="0"/>
              <a:t>Wrap-up session</a:t>
            </a:r>
            <a:endParaRPr lang="en-GB" sz="1800" dirty="0"/>
          </a:p>
          <a:p>
            <a:pPr marL="342991" lvl="1" indent="0">
              <a:buNone/>
            </a:pPr>
            <a:endParaRPr lang="en-GB" sz="1800" dirty="0"/>
          </a:p>
          <a:p>
            <a:endParaRPr lang="en-GB" dirty="0"/>
          </a:p>
          <a:p>
            <a:endParaRPr lang="en-GB" b="1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136C1DA-4F38-49D1-B90E-9437BEC3EC9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7E6475D-BDED-4D62-A64C-203EC56ADB6A}" type="slidenum">
              <a:rPr lang="en-GB" smtClean="0"/>
              <a:t>5</a:t>
            </a:fld>
            <a:endParaRPr lang="en-GB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90DD774-E43E-4D5C-B770-A342FB917F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Feedback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963AE20-5DB3-4FD4-B098-05DFFA40D54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7E6475D-BDED-4D62-A64C-203EC56ADB6A}" type="slidenum">
              <a:rPr lang="en-GB" smtClean="0"/>
              <a:t>6</a:t>
            </a:fld>
            <a:endParaRPr lang="en-GB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D9E3B2D2-238B-3E49-B309-5F7A8D8652A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57200" y="1477818"/>
            <a:ext cx="8229600" cy="4821382"/>
          </a:xfrm>
        </p:spPr>
        <p:txBody>
          <a:bodyPr/>
          <a:lstStyle/>
          <a:p>
            <a:pPr indent="-214370"/>
            <a:r>
              <a:rPr lang="en-GB" dirty="0"/>
              <a:t>Your feedback is important to us!</a:t>
            </a:r>
          </a:p>
          <a:p>
            <a:pPr indent="-214370"/>
            <a:endParaRPr lang="en-GB" dirty="0"/>
          </a:p>
          <a:p>
            <a:pPr indent="-214370"/>
            <a:r>
              <a:rPr lang="en-GB" dirty="0"/>
              <a:t>Please complete the feedback form on Moodle after the course — tell us what we did well and what we could improve.</a:t>
            </a:r>
          </a:p>
          <a:p>
            <a:pPr indent="-214370"/>
            <a:endParaRPr lang="en-GB" dirty="0"/>
          </a:p>
          <a:p>
            <a:pPr indent="-214370"/>
            <a:r>
              <a:rPr lang="en-GB" dirty="0"/>
              <a:t>And please don’t hesitate to ask questions during the course.</a:t>
            </a:r>
          </a:p>
        </p:txBody>
      </p:sp>
    </p:spTree>
    <p:extLst>
      <p:ext uri="{BB962C8B-B14F-4D97-AF65-F5344CB8AC3E}">
        <p14:creationId xmlns:p14="http://schemas.microsoft.com/office/powerpoint/2010/main" val="34978488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DD5A873-853A-4B3C-9B3C-298B16B9A0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Introduce yourself</a:t>
            </a:r>
            <a:br>
              <a:rPr lang="en-US" dirty="0"/>
            </a:br>
            <a:br>
              <a:rPr lang="en-US" dirty="0"/>
            </a:br>
            <a:r>
              <a:rPr lang="en-US" dirty="0"/>
              <a:t>Give your </a:t>
            </a:r>
            <a:r>
              <a:rPr lang="en-US" b="1" dirty="0"/>
              <a:t>name </a:t>
            </a:r>
            <a:r>
              <a:rPr lang="en-US" dirty="0"/>
              <a:t>+ </a:t>
            </a:r>
            <a:r>
              <a:rPr lang="en-US" b="1" dirty="0"/>
              <a:t>where you work</a:t>
            </a:r>
            <a:br>
              <a:rPr lang="en-US" b="1" dirty="0"/>
            </a:br>
            <a:br>
              <a:rPr lang="en-US" b="1" dirty="0"/>
            </a:br>
            <a:r>
              <a:rPr lang="en-US" dirty="0"/>
              <a:t>Use the </a:t>
            </a:r>
            <a:r>
              <a:rPr lang="en-US" b="1" dirty="0"/>
              <a:t>Moodle Discussion Board </a:t>
            </a:r>
            <a:r>
              <a:rPr lang="en-US" dirty="0"/>
              <a:t>to introduce yourself more fully should you wish or pose any questions for your colleagues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22C5F21-466E-C49F-0170-209865A98F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 to you!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AFAAC8-C621-936B-051D-C31000099B0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7E6475D-BDED-4D62-A64C-203EC56ADB6A}" type="slidenum">
              <a:rPr lang="en-GB" smtClean="0"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91955999"/>
      </p:ext>
    </p:extLst>
  </p:cSld>
  <p:clrMapOvr>
    <a:masterClrMapping/>
  </p:clrMapOvr>
</p:sld>
</file>

<file path=ppt/theme/theme1.xml><?xml version="1.0" encoding="utf-8"?>
<a:theme xmlns:a="http://schemas.openxmlformats.org/drawingml/2006/main" name="Main_Presentation_Title_Page">
  <a:themeElements>
    <a:clrScheme name="Custom 1">
      <a:dk1>
        <a:srgbClr val="000000"/>
      </a:dk1>
      <a:lt1>
        <a:srgbClr val="FFFFFF"/>
      </a:lt1>
      <a:dk2>
        <a:srgbClr val="004550"/>
      </a:dk2>
      <a:lt2>
        <a:srgbClr val="2BAC6D"/>
      </a:lt2>
      <a:accent1>
        <a:srgbClr val="2BAC6D"/>
      </a:accent1>
      <a:accent2>
        <a:srgbClr val="004550"/>
      </a:accent2>
      <a:accent3>
        <a:srgbClr val="00ABCE"/>
      </a:accent3>
      <a:accent4>
        <a:srgbClr val="FBB800"/>
      </a:accent4>
      <a:accent5>
        <a:srgbClr val="E95B0C"/>
      </a:accent5>
      <a:accent6>
        <a:srgbClr val="B1B2B3"/>
      </a:accent6>
      <a:hlink>
        <a:srgbClr val="00ABCE"/>
      </a:hlink>
      <a:folHlink>
        <a:srgbClr val="B1B2B3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LSHTM_Presentation_Template_4.3.potx" id="{36DD23E2-2B4D-4C02-87ED-940A54CBCDE4}" vid="{3E1D11D4-E105-447B-B68A-CA0B015ED833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365</TotalTime>
  <Words>593</Words>
  <Application>Microsoft Macintosh PowerPoint</Application>
  <PresentationFormat>On-screen Show (4:3)</PresentationFormat>
  <Paragraphs>72</Paragraphs>
  <Slides>8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Arial</vt:lpstr>
      <vt:lpstr>Calibri</vt:lpstr>
      <vt:lpstr>merriweather</vt:lpstr>
      <vt:lpstr>Open Sans</vt:lpstr>
      <vt:lpstr>Open Sans</vt:lpstr>
      <vt:lpstr>Main_Presentation_Title_Page</vt:lpstr>
      <vt:lpstr>Modern Techniques in Modelling</vt:lpstr>
      <vt:lpstr>Who we are</vt:lpstr>
      <vt:lpstr>Who you are (= scope of the course)</vt:lpstr>
      <vt:lpstr>Logistics</vt:lpstr>
      <vt:lpstr>Resources</vt:lpstr>
      <vt:lpstr>What will you learn in this course?</vt:lpstr>
      <vt:lpstr>Feedback</vt:lpstr>
      <vt:lpstr>Over to you!</vt:lpstr>
    </vt:vector>
  </TitlesOfParts>
  <LinksUpToDate>false</LinksUpToDate>
  <SharedDoc>false</SharedDoc>
  <HyperlinksChanged>false</HyperlinksChanged>
  <AppVersion>16.0000</AppVersion>
</Properties>
</file>

<file path=docProps/app0.xml><?xml version="1.0" encoding="utf-8"?>
<Properties xmlns="http://schemas.openxmlformats.org/officeDocument/2006/extended-properties" xmlns:vt="http://schemas.openxmlformats.org/officeDocument/2006/docPropsVTypes">
  <Template/>
  <TotalTime>23</TotalTime>
  <Words>14</Words>
  <Application>Microsoft Office PowerPoint</Application>
  <PresentationFormat>On-screen Show (4:3)</PresentationFormat>
  <Paragraphs>4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Arial</vt:lpstr>
      <vt:lpstr>Calibri</vt:lpstr>
      <vt:lpstr>merriweather</vt:lpstr>
      <vt:lpstr>Open Sans</vt:lpstr>
      <vt:lpstr>Open Sans</vt:lpstr>
      <vt:lpstr>Main_Presentation_Title_Page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London School of Hygiene &amp; Tropical Medicine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Modern Techniques in Modelling</dc:title>
  <dc:creator/>
  <cp:keywords/>
  <cp:lastModifiedBy>Katie Atkins</cp:lastModifiedBy>
  <cp:revision>62</cp:revision>
  <dcterms:created xsi:type="dcterms:W3CDTF">2019-06-12T07:36:02Z</dcterms:created>
  <dcterms:modified xsi:type="dcterms:W3CDTF">2026-08-26T09:18:43Z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bibliography">
    <vt:lpwstr>../../Infrastructure/extras.bib</vt:lpwstr>
  </property>
  <property fmtid="{D5CDD505-2E9C-101B-9397-08002B2CF9AE}" pid="3" name="csl">
    <vt:lpwstr>../../Infrastructure/chicago-author-date.csl</vt:lpwstr>
  </property>
  <property fmtid="{D5CDD505-2E9C-101B-9397-08002B2CF9AE}" pid="4" name="date">
    <vt:lpwstr>June 2019</vt:lpwstr>
  </property>
  <property fmtid="{D5CDD505-2E9C-101B-9397-08002B2CF9AE}" pid="5" name="header-includes">
    <vt:lpwstr>---------</vt:lpwstr>
  </property>
  <property fmtid="{D5CDD505-2E9C-101B-9397-08002B2CF9AE}" pid="6" name="output">
    <vt:lpwstr/>
  </property>
  <property fmtid="{D5CDD505-2E9C-101B-9397-08002B2CF9AE}" pid="7" name="tables">
    <vt:lpwstr>yes</vt:lpwstr>
  </property>
</Properties>
</file>